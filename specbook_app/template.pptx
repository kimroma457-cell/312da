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8503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0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</a:t>
            </a:r>
            <a:endParaRPr lang="en-US" sz="15500" dirty="0"/>
          </a:p>
        </p:txBody>
      </p:sp>
      <p:sp>
        <p:nvSpPr>
          <p:cNvPr id="4" name="Shape 2"/>
          <p:cNvSpPr/>
          <p:nvPr/>
        </p:nvSpPr>
        <p:spPr>
          <a:xfrm>
            <a:off x="457200" y="2633472"/>
            <a:ext cx="8229600" cy="0"/>
          </a:xfrm>
          <a:prstGeom prst="line">
            <a:avLst/>
          </a:prstGeom>
          <a:noFill/>
          <a:ln w="6350">
            <a:solidFill>
              <a:srgbClr val="DDD9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76148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spc="1000" kern="0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INTERIOR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0" kern="0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SPEC BOOK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3931920"/>
            <a:ext cx="8229600" cy="0"/>
          </a:xfrm>
          <a:prstGeom prst="line">
            <a:avLst/>
          </a:prstGeom>
          <a:noFill/>
          <a:ln w="6350">
            <a:solidFill>
              <a:srgbClr val="DDD9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0416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DESICODE  ·  2026 RESIDENTIAL EDITION  ·  SAMPLE DOCUMENT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949440" y="4343400"/>
            <a:ext cx="1737360" cy="800100"/>
          </a:xfrm>
          <a:prstGeom prst="rect">
            <a:avLst/>
          </a:prstGeom>
          <a:solidFill>
            <a:srgbClr val="F0EDE8"/>
          </a:solidFill>
          <a:ln w="6350">
            <a:solidFill>
              <a:srgbClr val="DDD9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4343400"/>
            <a:ext cx="173736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TAILORED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CLASSIC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DIRECTION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585216"/>
            <a:ext cx="8229600" cy="0"/>
          </a:xfrm>
          <a:prstGeom prst="line">
            <a:avLst/>
          </a:prstGeom>
          <a:noFill/>
          <a:ln w="9525">
            <a:solidFill>
              <a:srgbClr val="DDD9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008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핵심 트렌드 키워드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931920" cy="1645920"/>
          </a:xfrm>
          <a:prstGeom prst="rect">
            <a:avLst/>
          </a:prstGeom>
          <a:solidFill>
            <a:srgbClr val="1A1816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4630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TAILORED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CLASSIC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3317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테일러드 클래식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331720" y="1527048"/>
            <a:ext cx="18745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클래식의 품격과 현대 감각의 조화. 정제된 선과 따뜻한 소재가 공존하는 공간.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58368" y="2880360"/>
            <a:ext cx="54864" cy="274320"/>
          </a:xfrm>
          <a:prstGeom prst="rect">
            <a:avLst/>
          </a:prstGeom>
          <a:solidFill>
            <a:srgbClr val="B8AFA8"/>
          </a:solidFill>
          <a:ln w="12700">
            <a:solidFill>
              <a:srgbClr val="B8AFA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325880"/>
            <a:ext cx="3931920" cy="1645920"/>
          </a:xfrm>
          <a:prstGeom prst="rect">
            <a:avLst/>
          </a:prstGeom>
          <a:solidFill>
            <a:srgbClr val="F0EDE8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4608" y="14630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EARTH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MAXIMALISM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64608" y="23317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어스 맥시멀리즘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537960" y="1527048"/>
            <a:ext cx="18745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어스 톤 베이스에 소재와 텍스처를 풍부하게 레이어링하는 맥시멀 스타일.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864608" y="2880360"/>
            <a:ext cx="54864" cy="274320"/>
          </a:xfrm>
          <a:prstGeom prst="rect">
            <a:avLst/>
          </a:prstGeom>
          <a:solidFill>
            <a:srgbClr val="B8AFA8"/>
          </a:solidFill>
          <a:ln w="12700">
            <a:solidFill>
              <a:srgbClr val="B8AFA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108960"/>
            <a:ext cx="3931920" cy="1645920"/>
          </a:xfrm>
          <a:prstGeom prst="rect">
            <a:avLst/>
          </a:prstGeom>
          <a:solidFill>
            <a:srgbClr val="EBE7E1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24612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WABI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LUXE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" y="4114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와비 럭스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331720" y="3310128"/>
            <a:ext cx="18745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완벽하지 않음에서 오는 아름다움. 핸드메이드 질감과 자연 소재의 고급스러운 결합.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58368" y="4663440"/>
            <a:ext cx="54864" cy="274320"/>
          </a:xfrm>
          <a:prstGeom prst="rect">
            <a:avLst/>
          </a:prstGeom>
          <a:solidFill>
            <a:srgbClr val="B8AFA8"/>
          </a:solidFill>
          <a:ln w="12700">
            <a:solidFill>
              <a:srgbClr val="B8AFA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3108960"/>
            <a:ext cx="3931920" cy="1645920"/>
          </a:xfrm>
          <a:prstGeom prst="rect">
            <a:avLst/>
          </a:prstGeom>
          <a:solidFill>
            <a:srgbClr val="F8F6F3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324612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BIOPHILIC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LIVING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64608" y="4114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바이오필릭 리빙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537960" y="3310128"/>
            <a:ext cx="18745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자연과의 연결감을 실내로. 식물, 원목, 자연광을 핵심 요소로 설계하는 공간.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864608" y="4663440"/>
            <a:ext cx="54864" cy="274320"/>
          </a:xfrm>
          <a:prstGeom prst="rect">
            <a:avLst/>
          </a:prstGeom>
          <a:solidFill>
            <a:srgbClr val="B8AFA8"/>
          </a:solidFill>
          <a:ln w="12700">
            <a:solidFill>
              <a:srgbClr val="B8AFA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STORY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585216"/>
            <a:ext cx="8229600" cy="0"/>
          </a:xfrm>
          <a:prstGeom prst="line">
            <a:avLst/>
          </a:prstGeom>
          <a:noFill/>
          <a:ln w="9525">
            <a:solidFill>
              <a:srgbClr val="DDD9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008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PALETTE 2026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1207008" cy="1920240"/>
          </a:xfrm>
          <a:prstGeom prst="rect">
            <a:avLst/>
          </a:prstGeom>
          <a:solidFill>
            <a:srgbClr val="1C1917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3101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SILHOUETTE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352958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Deep Espresso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372160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#1C1917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457200" y="3931920"/>
            <a:ext cx="1207008" cy="219456"/>
          </a:xfrm>
          <a:prstGeom prst="rect">
            <a:avLst/>
          </a:prstGeom>
          <a:solidFill>
            <a:srgbClr val="F8F6F3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931920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포인트 · 가구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74520" y="1298448"/>
            <a:ext cx="1207008" cy="1920240"/>
          </a:xfrm>
          <a:prstGeom prst="rect">
            <a:avLst/>
          </a:prstGeom>
          <a:solidFill>
            <a:srgbClr val="B05A35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33101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AMBER CLAY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74520" y="352958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Terracotta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874520" y="372160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#B05A35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1874520" y="3931920"/>
            <a:ext cx="1207008" cy="219456"/>
          </a:xfrm>
          <a:prstGeom prst="rect">
            <a:avLst/>
          </a:prstGeom>
          <a:solidFill>
            <a:srgbClr val="F8F6F3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74520" y="3931920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컬러 · 타일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291840" y="1298448"/>
            <a:ext cx="1207008" cy="1920240"/>
          </a:xfrm>
          <a:prstGeom prst="rect">
            <a:avLst/>
          </a:prstGeom>
          <a:solidFill>
            <a:srgbClr val="5C6B4A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33101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FOREST MOSS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291840" y="352958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Olive Green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291840" y="372160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#5C6B4A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3291840" y="3931920"/>
            <a:ext cx="1207008" cy="219456"/>
          </a:xfrm>
          <a:prstGeom prst="rect">
            <a:avLst/>
          </a:prstGeom>
          <a:solidFill>
            <a:srgbClr val="F8F6F3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91840" y="3931920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패브릭 · 쿠션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709160" y="1298448"/>
            <a:ext cx="1207008" cy="1920240"/>
          </a:xfrm>
          <a:prstGeom prst="rect">
            <a:avLst/>
          </a:prstGeom>
          <a:solidFill>
            <a:srgbClr val="8B6F47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33101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WOOD SPICE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09160" y="352958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Warm Chestnut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709160" y="372160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#8B6F47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4709160" y="3931920"/>
            <a:ext cx="1207008" cy="219456"/>
          </a:xfrm>
          <a:prstGeom prst="rect">
            <a:avLst/>
          </a:prstGeom>
          <a:solidFill>
            <a:srgbClr val="F8F6F3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09160" y="3931920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우드 · 소품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6126480" y="1298448"/>
            <a:ext cx="1207008" cy="1920240"/>
          </a:xfrm>
          <a:prstGeom prst="rect">
            <a:avLst/>
          </a:prstGeom>
          <a:solidFill>
            <a:srgbClr val="A89585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0" y="33101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MUSHROOM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126480" y="352958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Warm Greige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126480" y="372160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#A89585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6126480" y="3931920"/>
            <a:ext cx="1207008" cy="219456"/>
          </a:xfrm>
          <a:prstGeom prst="rect">
            <a:avLst/>
          </a:prstGeom>
          <a:solidFill>
            <a:srgbClr val="F8F6F3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0" y="3931920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벽 · 중간 톤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7543800" y="1298448"/>
            <a:ext cx="1207008" cy="1920240"/>
          </a:xfrm>
          <a:prstGeom prst="rect">
            <a:avLst/>
          </a:prstGeom>
          <a:solidFill>
            <a:srgbClr val="F0EAE0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43800" y="33101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LINEN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7543800" y="352958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Natural White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7543800" y="372160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#F0EAE0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7543800" y="3931920"/>
            <a:ext cx="1207008" cy="219456"/>
          </a:xfrm>
          <a:prstGeom prst="rect">
            <a:avLst/>
          </a:prstGeom>
          <a:solidFill>
            <a:srgbClr val="F8F6F3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43800" y="3931920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 · 밝은 벽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MATERIALS &amp; FINISHES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585216"/>
            <a:ext cx="8229600" cy="0"/>
          </a:xfrm>
          <a:prstGeom prst="line">
            <a:avLst/>
          </a:prstGeom>
          <a:noFill/>
          <a:ln w="9525">
            <a:solidFill>
              <a:srgbClr val="DDD9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008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 및 마감재 스펙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822960" cy="822960"/>
          </a:xfrm>
          <a:prstGeom prst="rect">
            <a:avLst/>
          </a:prstGeom>
          <a:solidFill>
            <a:srgbClr val="C8A882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17320" y="1207008"/>
            <a:ext cx="777240" cy="201168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120700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FLOOR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417320" y="14630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오크 헤링본 마루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17320" y="17099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White Oak / Herringbone / 자연무늬목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417320" y="188366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 바닥 전반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3840480" cy="0"/>
          </a:xfrm>
          <a:prstGeom prst="line">
            <a:avLst/>
          </a:prstGeom>
          <a:noFill/>
          <a:ln w="5080">
            <a:solidFill>
              <a:srgbClr val="DDD9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207008"/>
            <a:ext cx="822960" cy="822960"/>
          </a:xfrm>
          <a:prstGeom prst="rect">
            <a:avLst/>
          </a:prstGeom>
          <a:solidFill>
            <a:srgbClr val="D4C4B0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23560" y="1207008"/>
            <a:ext cx="777240" cy="201168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23560" y="120700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WALL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623560" y="14630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마이크로 시멘트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23560" y="17099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Micro Cement / Matte / 두께 3mm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623560" y="188366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 주방·욕실 벽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663440" y="2286000"/>
            <a:ext cx="3840480" cy="0"/>
          </a:xfrm>
          <a:prstGeom prst="line">
            <a:avLst/>
          </a:prstGeom>
          <a:noFill/>
          <a:ln w="5080">
            <a:solidFill>
              <a:srgbClr val="DDD9D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395728"/>
            <a:ext cx="822960" cy="822960"/>
          </a:xfrm>
          <a:prstGeom prst="rect">
            <a:avLst/>
          </a:prstGeom>
          <a:solidFill>
            <a:srgbClr val="8A7560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17320" y="2395728"/>
            <a:ext cx="777240" cy="201168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2395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PANEL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41732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월넛 원목 패널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417320" y="289864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Walnut Veneer / Satin / 세로결 패널링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417320" y="30723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 거실 포인트 벽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57200" y="3474720"/>
            <a:ext cx="3840480" cy="0"/>
          </a:xfrm>
          <a:prstGeom prst="line">
            <a:avLst/>
          </a:prstGeom>
          <a:noFill/>
          <a:ln w="5080">
            <a:solidFill>
              <a:srgbClr val="DDD9D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0" y="2395728"/>
            <a:ext cx="822960" cy="822960"/>
          </a:xfrm>
          <a:prstGeom prst="rect">
            <a:avLst/>
          </a:prstGeom>
          <a:solidFill>
            <a:srgbClr val="B87A5A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23560" y="2395728"/>
            <a:ext cx="777240" cy="201168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23560" y="2395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TILE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62356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테라코타 타일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23560" y="289864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Handmade Terracotta / 200×200mm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623560" y="30723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 주방 백스플래시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663440" y="3474720"/>
            <a:ext cx="3840480" cy="0"/>
          </a:xfrm>
          <a:prstGeom prst="line">
            <a:avLst/>
          </a:prstGeom>
          <a:noFill/>
          <a:ln w="5080">
            <a:solidFill>
              <a:srgbClr val="DDD9D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584448"/>
            <a:ext cx="822960" cy="822960"/>
          </a:xfrm>
          <a:prstGeom prst="rect">
            <a:avLst/>
          </a:prstGeom>
          <a:solidFill>
            <a:srgbClr val="6E6E6E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417320" y="3584448"/>
            <a:ext cx="777240" cy="201168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417320" y="358444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METAL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417320" y="38404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브러쉬드 브론즈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17320" y="408736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Brushed Bronze / Matt / 하드웨어 전반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417320" y="426110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 조명·하드웨어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663440" y="3584448"/>
            <a:ext cx="822960" cy="822960"/>
          </a:xfrm>
          <a:prstGeom prst="rect">
            <a:avLst/>
          </a:prstGeom>
          <a:solidFill>
            <a:srgbClr val="E8DDD0"/>
          </a:solidFill>
          <a:ln w="3810">
            <a:solidFill>
              <a:srgbClr val="DDD9D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623560" y="3584448"/>
            <a:ext cx="777240" cy="201168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23560" y="358444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TEXTILE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623560" y="38404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린넨 텍스타일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623560" y="408736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Linen Blend / Washed Natural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623560" y="426110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 커튼·쿠션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SPACE SPECIFICATION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585216"/>
            <a:ext cx="8229600" cy="0"/>
          </a:xfrm>
          <a:prstGeom prst="line">
            <a:avLst/>
          </a:prstGeom>
          <a:noFill/>
          <a:ln w="9525">
            <a:solidFill>
              <a:srgbClr val="DDD9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008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거실 공간 스펙  ·  Living Room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61872" y="115214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품목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069080" y="115214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재질 / 마감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0" y="11521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57200" y="1335024"/>
            <a:ext cx="8229600" cy="0"/>
          </a:xfrm>
          <a:prstGeom prst="line">
            <a:avLst/>
          </a:prstGeom>
          <a:noFill/>
          <a:ln w="9525">
            <a:solidFill>
              <a:srgbClr val="C8C2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376172"/>
            <a:ext cx="640080" cy="640080"/>
          </a:xfrm>
          <a:prstGeom prst="rect">
            <a:avLst/>
          </a:prstGeom>
          <a:solidFill>
            <a:srgbClr val="F0EDE8"/>
          </a:solidFill>
          <a:ln w="9525">
            <a:solidFill>
              <a:srgbClr val="C8C2B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3761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61872" y="13990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SOFA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61872" y="15544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3인 소파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61872" y="1810512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L2,400 × D980 × H780mm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069080" y="14630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리넨 블렌드 / 내추럴 베이지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046720" y="14630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커스텀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5080">
            <a:solidFill>
              <a:srgbClr val="DDD9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125980"/>
            <a:ext cx="640080" cy="640080"/>
          </a:xfrm>
          <a:prstGeom prst="rect">
            <a:avLst/>
          </a:prstGeom>
          <a:solidFill>
            <a:srgbClr val="F0EDE8"/>
          </a:solidFill>
          <a:ln w="9525">
            <a:solidFill>
              <a:srgbClr val="C8C2B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1259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61872" y="214884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261872" y="23042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사이드 테이블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61872" y="25603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Ø650 × H450mm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069080" y="221284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오크 원목 / 내추럴 오일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046720" y="221284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기성품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2816352"/>
            <a:ext cx="8229600" cy="0"/>
          </a:xfrm>
          <a:prstGeom prst="line">
            <a:avLst/>
          </a:prstGeom>
          <a:noFill/>
          <a:ln w="5080">
            <a:solidFill>
              <a:srgbClr val="DDD9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2875788"/>
            <a:ext cx="640080" cy="640080"/>
          </a:xfrm>
          <a:prstGeom prst="rect">
            <a:avLst/>
          </a:prstGeom>
          <a:solidFill>
            <a:srgbClr val="F0EDE8"/>
          </a:solidFill>
          <a:ln w="9525">
            <a:solidFill>
              <a:srgbClr val="C8C2B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8757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61872" y="28986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RUG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261872" y="30540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울 러그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261872" y="331012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 × 2,000mm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4069080" y="29626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울 100% / 핸드터프팅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046720" y="29626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수입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57200" y="3566160"/>
            <a:ext cx="8229600" cy="0"/>
          </a:xfrm>
          <a:prstGeom prst="line">
            <a:avLst/>
          </a:prstGeom>
          <a:noFill/>
          <a:ln w="5080">
            <a:solidFill>
              <a:srgbClr val="DDD9D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625596"/>
            <a:ext cx="640080" cy="640080"/>
          </a:xfrm>
          <a:prstGeom prst="rect">
            <a:avLst/>
          </a:prstGeom>
          <a:solidFill>
            <a:srgbClr val="F0EDE8"/>
          </a:solidFill>
          <a:ln w="9525">
            <a:solidFill>
              <a:srgbClr val="C8C2B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36255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261872" y="364845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LIGHT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261872" y="380390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펜던트 조명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261872" y="405993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Ø400 × H600mm (조절)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069080" y="371246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브러쉬드 브론즈 / 린넨 셰이드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046720" y="371246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전기 연동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57200" y="4315968"/>
            <a:ext cx="8229600" cy="0"/>
          </a:xfrm>
          <a:prstGeom prst="line">
            <a:avLst/>
          </a:prstGeom>
          <a:noFill/>
          <a:ln w="5080">
            <a:solidFill>
              <a:srgbClr val="DDD9D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4375404"/>
            <a:ext cx="640080" cy="640080"/>
          </a:xfrm>
          <a:prstGeom prst="rect">
            <a:avLst/>
          </a:prstGeom>
          <a:solidFill>
            <a:srgbClr val="F0EDE8"/>
          </a:solidFill>
          <a:ln w="9525">
            <a:solidFill>
              <a:srgbClr val="C8C2B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3754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61872" y="439826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CURTAIN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1261872" y="45537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블랙아웃 커튼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261872" y="480974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W2,800 × H2,700mm (1set)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069080" y="446227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폴리에스터 블렌드 / 더블레이어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046720" y="4462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측정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6304" y="1097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250" kern="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MODELING IMAGE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46304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거실 모델링  ·  Living Room Render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54864" y="475488"/>
            <a:ext cx="4517136" cy="2306574"/>
          </a:xfrm>
          <a:prstGeom prst="rect">
            <a:avLst/>
          </a:prstGeom>
          <a:solidFill>
            <a:srgbClr val="F0EDE8"/>
          </a:solidFill>
          <a:ln w="12700">
            <a:solidFill>
              <a:srgbClr val="C0B8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475488"/>
            <a:ext cx="4517136" cy="2306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C8C2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182880" y="2471166"/>
            <a:ext cx="621792" cy="18288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2471166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  01</a:t>
            </a:r>
            <a:endParaRPr lang="en-US" sz="600" dirty="0"/>
          </a:p>
        </p:txBody>
      </p:sp>
      <p:sp>
        <p:nvSpPr>
          <p:cNvPr id="9" name="Shape 7"/>
          <p:cNvSpPr/>
          <p:nvPr/>
        </p:nvSpPr>
        <p:spPr>
          <a:xfrm>
            <a:off x="4626864" y="475488"/>
            <a:ext cx="4517136" cy="2306574"/>
          </a:xfrm>
          <a:prstGeom prst="rect">
            <a:avLst/>
          </a:prstGeom>
          <a:solidFill>
            <a:srgbClr val="F0EDE8"/>
          </a:solidFill>
          <a:ln w="12700">
            <a:solidFill>
              <a:srgbClr val="C0B8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6864" y="475488"/>
            <a:ext cx="4517136" cy="2306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C8C2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754880" y="2471166"/>
            <a:ext cx="621792" cy="18288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2471166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  02</a:t>
            </a:r>
            <a:endParaRPr lang="en-US" sz="600" dirty="0"/>
          </a:p>
        </p:txBody>
      </p:sp>
      <p:sp>
        <p:nvSpPr>
          <p:cNvPr id="13" name="Shape 11"/>
          <p:cNvSpPr/>
          <p:nvPr/>
        </p:nvSpPr>
        <p:spPr>
          <a:xfrm>
            <a:off x="54864" y="2836926"/>
            <a:ext cx="4517136" cy="2306574"/>
          </a:xfrm>
          <a:prstGeom prst="rect">
            <a:avLst/>
          </a:prstGeom>
          <a:solidFill>
            <a:srgbClr val="F0EDE8"/>
          </a:solidFill>
          <a:ln w="12700">
            <a:solidFill>
              <a:srgbClr val="C0B8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836926"/>
            <a:ext cx="4517136" cy="2306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C8C2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182880" y="4832604"/>
            <a:ext cx="621792" cy="18288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" y="483260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  03</a:t>
            </a:r>
            <a:endParaRPr lang="en-US" sz="600" dirty="0"/>
          </a:p>
        </p:txBody>
      </p:sp>
      <p:sp>
        <p:nvSpPr>
          <p:cNvPr id="17" name="Shape 15"/>
          <p:cNvSpPr/>
          <p:nvPr/>
        </p:nvSpPr>
        <p:spPr>
          <a:xfrm>
            <a:off x="4626864" y="2836926"/>
            <a:ext cx="4517136" cy="2306574"/>
          </a:xfrm>
          <a:prstGeom prst="rect">
            <a:avLst/>
          </a:prstGeom>
          <a:solidFill>
            <a:srgbClr val="F0EDE8"/>
          </a:solidFill>
          <a:ln w="12700">
            <a:solidFill>
              <a:srgbClr val="C0B8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26864" y="2836926"/>
            <a:ext cx="4517136" cy="2306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C8C2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3600" dirty="0"/>
          </a:p>
        </p:txBody>
      </p:sp>
      <p:sp>
        <p:nvSpPr>
          <p:cNvPr id="19" name="Shape 17"/>
          <p:cNvSpPr/>
          <p:nvPr/>
        </p:nvSpPr>
        <p:spPr>
          <a:xfrm>
            <a:off x="4754880" y="4832604"/>
            <a:ext cx="621792" cy="18288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483260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  04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SPACE SPECIFICATION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585216"/>
            <a:ext cx="8229600" cy="0"/>
          </a:xfrm>
          <a:prstGeom prst="line">
            <a:avLst/>
          </a:prstGeom>
          <a:noFill/>
          <a:ln w="9525">
            <a:solidFill>
              <a:srgbClr val="DDD9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008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침실 공간 스펙  ·  Bedroom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61872" y="115214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품목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069080" y="115214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재질 / 마감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0" y="11521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57200" y="1335024"/>
            <a:ext cx="8229600" cy="0"/>
          </a:xfrm>
          <a:prstGeom prst="line">
            <a:avLst/>
          </a:prstGeom>
          <a:noFill/>
          <a:ln w="9525">
            <a:solidFill>
              <a:srgbClr val="C8C2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376172"/>
            <a:ext cx="640080" cy="640080"/>
          </a:xfrm>
          <a:prstGeom prst="rect">
            <a:avLst/>
          </a:prstGeom>
          <a:solidFill>
            <a:srgbClr val="F0EDE8"/>
          </a:solidFill>
          <a:ln w="9525">
            <a:solidFill>
              <a:srgbClr val="C8C2B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3761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61872" y="13990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BED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61872" y="15544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퀸 침대 프레임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61872" y="1810512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W1,680 × D2,200 × H1,100mm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069080" y="14630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오크 원목 / 내추럴 오일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046720" y="14630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커스텀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5080">
            <a:solidFill>
              <a:srgbClr val="DDD9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125980"/>
            <a:ext cx="640080" cy="640080"/>
          </a:xfrm>
          <a:prstGeom prst="rect">
            <a:avLst/>
          </a:prstGeom>
          <a:solidFill>
            <a:srgbClr val="F0EDE8"/>
          </a:solidFill>
          <a:ln w="9525">
            <a:solidFill>
              <a:srgbClr val="C8C2B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1259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61872" y="214884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MATTRESS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261872" y="23042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포켓스프링 매트리스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61872" y="25603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W1,500 × D2,000 × H280mm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069080" y="221284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포켓스프링 / 울 탑핑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046720" y="221284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수입 브랜드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2816352"/>
            <a:ext cx="8229600" cy="0"/>
          </a:xfrm>
          <a:prstGeom prst="line">
            <a:avLst/>
          </a:prstGeom>
          <a:noFill/>
          <a:ln w="5080">
            <a:solidFill>
              <a:srgbClr val="DDD9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2875788"/>
            <a:ext cx="640080" cy="640080"/>
          </a:xfrm>
          <a:prstGeom prst="rect">
            <a:avLst/>
          </a:prstGeom>
          <a:solidFill>
            <a:srgbClr val="F0EDE8"/>
          </a:solidFill>
          <a:ln w="9525">
            <a:solidFill>
              <a:srgbClr val="C8C2B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8757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61872" y="28986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WARDROBE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261872" y="30540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슬라이딩 옷장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261872" y="331012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W2,400 × D650 × H2,400mm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4069080" y="29626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미스트 화이트 래커 / 우드 핸들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046720" y="29626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빌트인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57200" y="3566160"/>
            <a:ext cx="8229600" cy="0"/>
          </a:xfrm>
          <a:prstGeom prst="line">
            <a:avLst/>
          </a:prstGeom>
          <a:noFill/>
          <a:ln w="5080">
            <a:solidFill>
              <a:srgbClr val="DDD9D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625596"/>
            <a:ext cx="640080" cy="640080"/>
          </a:xfrm>
          <a:prstGeom prst="rect">
            <a:avLst/>
          </a:prstGeom>
          <a:solidFill>
            <a:srgbClr val="F0EDE8"/>
          </a:solidFill>
          <a:ln w="9525">
            <a:solidFill>
              <a:srgbClr val="C8C2B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36255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261872" y="364845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SCONCE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261872" y="380390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벽 부착 조명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261872" y="405993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W180 × H320mm (1 pair)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069080" y="371246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앤틱 브라스 / 오팔 글라스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046720" y="371246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전기 연동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57200" y="4315968"/>
            <a:ext cx="8229600" cy="0"/>
          </a:xfrm>
          <a:prstGeom prst="line">
            <a:avLst/>
          </a:prstGeom>
          <a:noFill/>
          <a:ln w="5080">
            <a:solidFill>
              <a:srgbClr val="DDD9D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4375404"/>
            <a:ext cx="640080" cy="640080"/>
          </a:xfrm>
          <a:prstGeom prst="rect">
            <a:avLst/>
          </a:prstGeom>
          <a:solidFill>
            <a:srgbClr val="F0EDE8"/>
          </a:solidFill>
          <a:ln w="9525">
            <a:solidFill>
              <a:srgbClr val="C8C2B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3754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61872" y="439826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BEDDING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1261872" y="45537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린넨 침구 세트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261872" y="480974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Queen / 6 piece set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069080" y="446227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린넨 100% / 워시드 내추럴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046720" y="4462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수입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6304" y="1097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250" kern="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MODELING IMAGE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46304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침실 모델링  ·  Bedroom Render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54864" y="475488"/>
            <a:ext cx="4517136" cy="2306574"/>
          </a:xfrm>
          <a:prstGeom prst="rect">
            <a:avLst/>
          </a:prstGeom>
          <a:solidFill>
            <a:srgbClr val="F0EDE8"/>
          </a:solidFill>
          <a:ln w="12700">
            <a:solidFill>
              <a:srgbClr val="C0B8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475488"/>
            <a:ext cx="4517136" cy="2306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C8C2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182880" y="2471166"/>
            <a:ext cx="621792" cy="18288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2471166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  01</a:t>
            </a:r>
            <a:endParaRPr lang="en-US" sz="600" dirty="0"/>
          </a:p>
        </p:txBody>
      </p:sp>
      <p:sp>
        <p:nvSpPr>
          <p:cNvPr id="9" name="Shape 7"/>
          <p:cNvSpPr/>
          <p:nvPr/>
        </p:nvSpPr>
        <p:spPr>
          <a:xfrm>
            <a:off x="4626864" y="475488"/>
            <a:ext cx="4517136" cy="2306574"/>
          </a:xfrm>
          <a:prstGeom prst="rect">
            <a:avLst/>
          </a:prstGeom>
          <a:solidFill>
            <a:srgbClr val="F0EDE8"/>
          </a:solidFill>
          <a:ln w="12700">
            <a:solidFill>
              <a:srgbClr val="C0B8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6864" y="475488"/>
            <a:ext cx="4517136" cy="2306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C8C2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754880" y="2471166"/>
            <a:ext cx="621792" cy="18288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2471166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  02</a:t>
            </a:r>
            <a:endParaRPr lang="en-US" sz="600" dirty="0"/>
          </a:p>
        </p:txBody>
      </p:sp>
      <p:sp>
        <p:nvSpPr>
          <p:cNvPr id="13" name="Shape 11"/>
          <p:cNvSpPr/>
          <p:nvPr/>
        </p:nvSpPr>
        <p:spPr>
          <a:xfrm>
            <a:off x="54864" y="2836926"/>
            <a:ext cx="4517136" cy="2306574"/>
          </a:xfrm>
          <a:prstGeom prst="rect">
            <a:avLst/>
          </a:prstGeom>
          <a:solidFill>
            <a:srgbClr val="F0EDE8"/>
          </a:solidFill>
          <a:ln w="12700">
            <a:solidFill>
              <a:srgbClr val="C0B8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836926"/>
            <a:ext cx="4517136" cy="2306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C8C2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182880" y="4832604"/>
            <a:ext cx="621792" cy="18288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" y="483260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  03</a:t>
            </a:r>
            <a:endParaRPr lang="en-US" sz="600" dirty="0"/>
          </a:p>
        </p:txBody>
      </p:sp>
      <p:sp>
        <p:nvSpPr>
          <p:cNvPr id="17" name="Shape 15"/>
          <p:cNvSpPr/>
          <p:nvPr/>
        </p:nvSpPr>
        <p:spPr>
          <a:xfrm>
            <a:off x="4626864" y="2836926"/>
            <a:ext cx="4517136" cy="2306574"/>
          </a:xfrm>
          <a:prstGeom prst="rect">
            <a:avLst/>
          </a:prstGeom>
          <a:solidFill>
            <a:srgbClr val="F0EDE8"/>
          </a:solidFill>
          <a:ln w="12700">
            <a:solidFill>
              <a:srgbClr val="C0B8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26864" y="2836926"/>
            <a:ext cx="4517136" cy="2306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C8C2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3600" dirty="0"/>
          </a:p>
        </p:txBody>
      </p:sp>
      <p:sp>
        <p:nvSpPr>
          <p:cNvPr id="19" name="Shape 17"/>
          <p:cNvSpPr/>
          <p:nvPr/>
        </p:nvSpPr>
        <p:spPr>
          <a:xfrm>
            <a:off x="4754880" y="4832604"/>
            <a:ext cx="621792" cy="18288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483260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  04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SPACE SPECIFICATION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585216"/>
            <a:ext cx="8229600" cy="0"/>
          </a:xfrm>
          <a:prstGeom prst="line">
            <a:avLst/>
          </a:prstGeom>
          <a:noFill/>
          <a:ln w="9525">
            <a:solidFill>
              <a:srgbClr val="DDD9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008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주방·다이닝 스펙  ·  Kitchen &amp; Dining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61872" y="115214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품목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069080" y="115214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재질 / 마감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0" y="11521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57200" y="1335024"/>
            <a:ext cx="8229600" cy="0"/>
          </a:xfrm>
          <a:prstGeom prst="line">
            <a:avLst/>
          </a:prstGeom>
          <a:noFill/>
          <a:ln w="9525">
            <a:solidFill>
              <a:srgbClr val="C8C2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376172"/>
            <a:ext cx="640080" cy="640080"/>
          </a:xfrm>
          <a:prstGeom prst="rect">
            <a:avLst/>
          </a:prstGeom>
          <a:solidFill>
            <a:srgbClr val="F0EDE8"/>
          </a:solidFill>
          <a:ln w="9525">
            <a:solidFill>
              <a:srgbClr val="C8C2B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3761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61872" y="13990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CABINET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61872" y="15544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상부·하부 캐비닛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61872" y="1810512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W3,600 (상) + W3,600 (하)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069080" y="14630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매트 화이트 래커 / 슬림 핸들리스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046720" y="14630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빌트인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5080">
            <a:solidFill>
              <a:srgbClr val="DDD9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125980"/>
            <a:ext cx="640080" cy="640080"/>
          </a:xfrm>
          <a:prstGeom prst="rect">
            <a:avLst/>
          </a:prstGeom>
          <a:solidFill>
            <a:srgbClr val="F0EDE8"/>
          </a:solidFill>
          <a:ln w="9525">
            <a:solidFill>
              <a:srgbClr val="C8C2B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1259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61872" y="214884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COUNTER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261872" y="23042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카운터탑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61872" y="25603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T20mm / Quartzite Stone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069080" y="221284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화이트 쿼츠 / 폴리싱 마감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046720" y="221284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시공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2816352"/>
            <a:ext cx="8229600" cy="0"/>
          </a:xfrm>
          <a:prstGeom prst="line">
            <a:avLst/>
          </a:prstGeom>
          <a:noFill/>
          <a:ln w="5080">
            <a:solidFill>
              <a:srgbClr val="DDD9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2875788"/>
            <a:ext cx="640080" cy="640080"/>
          </a:xfrm>
          <a:prstGeom prst="rect">
            <a:avLst/>
          </a:prstGeom>
          <a:solidFill>
            <a:srgbClr val="F0EDE8"/>
          </a:solidFill>
          <a:ln w="9525">
            <a:solidFill>
              <a:srgbClr val="C8C2B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8757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61872" y="28986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SINK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261872" y="30540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매립형 싱크대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261872" y="331012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W800 × D450 × D200mm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4069080" y="29626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스테인리스 / 헤어라인 피니쉬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046720" y="29626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기성품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57200" y="3566160"/>
            <a:ext cx="8229600" cy="0"/>
          </a:xfrm>
          <a:prstGeom prst="line">
            <a:avLst/>
          </a:prstGeom>
          <a:noFill/>
          <a:ln w="5080">
            <a:solidFill>
              <a:srgbClr val="DDD9D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625596"/>
            <a:ext cx="640080" cy="640080"/>
          </a:xfrm>
          <a:prstGeom prst="rect">
            <a:avLst/>
          </a:prstGeom>
          <a:solidFill>
            <a:srgbClr val="F0EDE8"/>
          </a:solidFill>
          <a:ln w="9525">
            <a:solidFill>
              <a:srgbClr val="C8C2B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36255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261872" y="364845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261872" y="380390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다이닝 테이블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261872" y="405993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W1,800 × D900 × H730mm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069080" y="371246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화이트오크 / 클리어오일 피니쉬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046720" y="371246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커스텀 6인용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57200" y="4315968"/>
            <a:ext cx="8229600" cy="0"/>
          </a:xfrm>
          <a:prstGeom prst="line">
            <a:avLst/>
          </a:prstGeom>
          <a:noFill/>
          <a:ln w="5080">
            <a:solidFill>
              <a:srgbClr val="DDD9D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4375404"/>
            <a:ext cx="640080" cy="640080"/>
          </a:xfrm>
          <a:prstGeom prst="rect">
            <a:avLst/>
          </a:prstGeom>
          <a:solidFill>
            <a:srgbClr val="F0EDE8"/>
          </a:solidFill>
          <a:ln w="9525">
            <a:solidFill>
              <a:srgbClr val="C8C2B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3754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61872" y="439826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CHAIR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1261872" y="45537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다이닝 체어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261872" y="480974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W480 × D530 × H800mm (6ea)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069080" y="446227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월넛 프레임 / 부클레 패브릭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046720" y="4462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8F8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수입 기성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6304" y="1097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250" kern="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MODELING IMAGE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46304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주방 모델링  ·  Kitchen Render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54864" y="475488"/>
            <a:ext cx="4517136" cy="2306574"/>
          </a:xfrm>
          <a:prstGeom prst="rect">
            <a:avLst/>
          </a:prstGeom>
          <a:solidFill>
            <a:srgbClr val="F0EDE8"/>
          </a:solidFill>
          <a:ln w="12700">
            <a:solidFill>
              <a:srgbClr val="C0B8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475488"/>
            <a:ext cx="4517136" cy="2306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C8C2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182880" y="2471166"/>
            <a:ext cx="621792" cy="18288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2471166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  01</a:t>
            </a:r>
            <a:endParaRPr lang="en-US" sz="600" dirty="0"/>
          </a:p>
        </p:txBody>
      </p:sp>
      <p:sp>
        <p:nvSpPr>
          <p:cNvPr id="9" name="Shape 7"/>
          <p:cNvSpPr/>
          <p:nvPr/>
        </p:nvSpPr>
        <p:spPr>
          <a:xfrm>
            <a:off x="4626864" y="475488"/>
            <a:ext cx="4517136" cy="2306574"/>
          </a:xfrm>
          <a:prstGeom prst="rect">
            <a:avLst/>
          </a:prstGeom>
          <a:solidFill>
            <a:srgbClr val="F0EDE8"/>
          </a:solidFill>
          <a:ln w="12700">
            <a:solidFill>
              <a:srgbClr val="C0B8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6864" y="475488"/>
            <a:ext cx="4517136" cy="2306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C8C2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754880" y="2471166"/>
            <a:ext cx="621792" cy="18288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2471166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  02</a:t>
            </a:r>
            <a:endParaRPr lang="en-US" sz="600" dirty="0"/>
          </a:p>
        </p:txBody>
      </p:sp>
      <p:sp>
        <p:nvSpPr>
          <p:cNvPr id="13" name="Shape 11"/>
          <p:cNvSpPr/>
          <p:nvPr/>
        </p:nvSpPr>
        <p:spPr>
          <a:xfrm>
            <a:off x="54864" y="2836926"/>
            <a:ext cx="4517136" cy="2306574"/>
          </a:xfrm>
          <a:prstGeom prst="rect">
            <a:avLst/>
          </a:prstGeom>
          <a:solidFill>
            <a:srgbClr val="F0EDE8"/>
          </a:solidFill>
          <a:ln w="12700">
            <a:solidFill>
              <a:srgbClr val="C0B8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836926"/>
            <a:ext cx="4517136" cy="2306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C8C2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182880" y="4832604"/>
            <a:ext cx="621792" cy="18288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" y="483260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  03</a:t>
            </a:r>
            <a:endParaRPr lang="en-US" sz="600" dirty="0"/>
          </a:p>
        </p:txBody>
      </p:sp>
      <p:sp>
        <p:nvSpPr>
          <p:cNvPr id="17" name="Shape 15"/>
          <p:cNvSpPr/>
          <p:nvPr/>
        </p:nvSpPr>
        <p:spPr>
          <a:xfrm>
            <a:off x="4626864" y="2836926"/>
            <a:ext cx="4517136" cy="2306574"/>
          </a:xfrm>
          <a:prstGeom prst="rect">
            <a:avLst/>
          </a:prstGeom>
          <a:solidFill>
            <a:srgbClr val="F0EDE8"/>
          </a:solidFill>
          <a:ln w="12700">
            <a:solidFill>
              <a:srgbClr val="C0B8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26864" y="2836926"/>
            <a:ext cx="4517136" cy="2306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C8C2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3600" dirty="0"/>
          </a:p>
        </p:txBody>
      </p:sp>
      <p:sp>
        <p:nvSpPr>
          <p:cNvPr id="19" name="Shape 17"/>
          <p:cNvSpPr/>
          <p:nvPr/>
        </p:nvSpPr>
        <p:spPr>
          <a:xfrm>
            <a:off x="4754880" y="4832604"/>
            <a:ext cx="621792" cy="18288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483260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B8A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  04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FF&amp;E SCHEDULE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585216"/>
            <a:ext cx="8229600" cy="0"/>
          </a:xfrm>
          <a:prstGeom prst="line">
            <a:avLst/>
          </a:prstGeom>
          <a:noFill/>
          <a:ln w="9525">
            <a:solidFill>
              <a:srgbClr val="DDD9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008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가구 · 조명 · 소품 총괄 목록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ITEM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965960" y="128016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ROOM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2788920" y="128016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QTY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73552" y="1280160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SPEC (mm)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68112" y="12801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FINISH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6976872" y="12801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VENDOR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863840" y="12801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NOTE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57200" y="1490472"/>
            <a:ext cx="8229600" cy="0"/>
          </a:xfrm>
          <a:prstGeom prst="line">
            <a:avLst/>
          </a:prstGeom>
          <a:noFill/>
          <a:ln w="9525">
            <a:solidFill>
              <a:srgbClr val="C8C2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1527048"/>
            <a:ext cx="8229600" cy="402336"/>
          </a:xfrm>
          <a:prstGeom prst="rect">
            <a:avLst/>
          </a:prstGeom>
          <a:solidFill>
            <a:srgbClr val="F8F6F3"/>
          </a:solidFill>
          <a:ln w="12700">
            <a:solidFill>
              <a:srgbClr val="F8F6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6002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965960" y="16002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거실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88920" y="160020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73552" y="160020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L2,400×D980×H780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468112" y="16002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리넨 / 내추럴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976872" y="160020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국내커스텀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160020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커스텀 오더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1956816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다이닝 테이블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965960" y="20299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다이닝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88920" y="2029968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273552" y="202996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W1,800×D900×H730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468112" y="20299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오크 / 클리어오일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976872" y="20299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커스텀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863840" y="20299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6인용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57200" y="2386584"/>
            <a:ext cx="8229600" cy="402336"/>
          </a:xfrm>
          <a:prstGeom prst="rect">
            <a:avLst/>
          </a:prstGeom>
          <a:solidFill>
            <a:srgbClr val="F8F6F3"/>
          </a:solidFill>
          <a:ln w="12700">
            <a:solidFill>
              <a:srgbClr val="F8F6F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45973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다이닝 체어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965960" y="245973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다이닝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788920" y="245973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273552" y="245973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W480×D530×H800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468112" y="2459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월넛 + 부클레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976872" y="2459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수입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863840" y="2459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세트 구매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" y="2816352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288950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 프레임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965960" y="28895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침실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788920" y="288950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273552" y="288950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W1,680×D2,200×H1,100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468112" y="28895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오크 / 내추럴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976872" y="28895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커스텀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863840" y="28895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매트리스 별도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57200" y="3246120"/>
            <a:ext cx="8229600" cy="402336"/>
          </a:xfrm>
          <a:prstGeom prst="rect">
            <a:avLst/>
          </a:prstGeom>
          <a:solidFill>
            <a:srgbClr val="F8F6F3"/>
          </a:solidFill>
          <a:ln w="12700">
            <a:solidFill>
              <a:srgbClr val="F8F6F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331927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슬라이딩 옷장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1965960" y="33192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침실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788920" y="331927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273552" y="331927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W2,400×D650×H2,400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468112" y="33192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매트화이트래커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976872" y="331927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빌트인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863840" y="331927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설치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57200" y="3675888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74904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펜던트 조명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1965960" y="37490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거실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788920" y="374904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273552" y="374904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Ø400×H600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468112" y="37490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브론즈 / 린넨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976872" y="374904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수입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7863840" y="374904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전기 연동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457200" y="4105656"/>
            <a:ext cx="8229600" cy="402336"/>
          </a:xfrm>
          <a:prstGeom prst="rect">
            <a:avLst/>
          </a:prstGeom>
          <a:solidFill>
            <a:srgbClr val="F8F6F3"/>
          </a:solidFill>
          <a:ln w="12700">
            <a:solidFill>
              <a:srgbClr val="F8F6F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7200" y="41788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벽 부착 조명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965960" y="417880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침실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88920" y="4178808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3273552" y="417880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W180×H320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68112" y="41788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브라스 / 오팔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6976872" y="41788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수입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7863840" y="41788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pair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57200" y="4535424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7200" y="46085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울 러그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1965960" y="460857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거실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2788920" y="460857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3273552" y="460857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3,000×2,000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68112" y="46085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울100% / 터프팅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6976872" y="46085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수입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7863840" y="46085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깔개 별도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303520" y="0"/>
            <a:ext cx="3840480" cy="5143500"/>
          </a:xfrm>
          <a:prstGeom prst="rect">
            <a:avLst/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8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인테리어 스펙북 — 예시본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4572000" cy="0"/>
          </a:xfrm>
          <a:prstGeom prst="line">
            <a:avLst/>
          </a:prstGeom>
          <a:noFill/>
          <a:ln w="6350">
            <a:solidFill>
              <a:srgbClr val="DDD9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42316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050" b="1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Desicode Studio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contact@desicode.kr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www.desicode.kr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C7F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문서는 예시 목적으로 제작된 샘플입니다.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394960" y="128016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SPEC</a:t>
            </a:r>
            <a:endParaRPr lang="en-US" sz="5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BOOK</a:t>
            </a:r>
            <a:endParaRPr lang="en-US" sz="5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</a:t>
            </a:r>
            <a:endParaRPr lang="en-US" sz="5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Interior Spec Book - Desicode</dc:title>
  <dc:subject>PptxGenJS Presentation</dc:subject>
  <dc:creator>PptxGenJS</dc:creator>
  <cp:lastModifiedBy>PptxGenJS</cp:lastModifiedBy>
  <cp:revision>1</cp:revision>
  <dcterms:created xsi:type="dcterms:W3CDTF">2026-06-17T07:01:06Z</dcterms:created>
  <dcterms:modified xsi:type="dcterms:W3CDTF">2026-06-17T07:01:06Z</dcterms:modified>
</cp:coreProperties>
</file>