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C8A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2C2C"/>
                </a:solidFill>
              </a:rPr>
              <a:t>○○ 아파트 리모델링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371600" cy="36000"/>
          </a:xfrm>
          <a:prstGeom prst="rect">
            <a:avLst/>
          </a:prstGeom>
          <a:solidFill>
            <a:srgbClr val="C8A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7B6B"/>
                </a:solidFill>
              </a:rPr>
              <a:t>위치: 서울시 강남구
면적: 84㎡ (25.4평)
공사기간: 2026.07 ~ 2026.08
담당자: 홍길동
작성일: 2026.06.17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거실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8229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822960"/>
            <a:ext cx="2743200" cy="173736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633472"/>
            <a:ext cx="594360" cy="20116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62432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최저가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7B6B"/>
                </a:solidFill>
              </a:rPr>
              <a:t>바닥재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89504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2C2C"/>
                </a:solidFill>
              </a:rPr>
              <a:t>강화마루 (보급형)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1868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7B6B"/>
                </a:solidFill>
              </a:rPr>
              <a:t>동화자연마루 엘리트  |  1,220 × 166 × 8T 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47472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7E"/>
                </a:solidFill>
              </a:rPr>
              <a:t>㎡당 18,000~22,000원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7B6B"/>
                </a:solidFill>
              </a:rPr>
              <a:t>내구성 보통, 셀프시공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7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침실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8229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822960"/>
            <a:ext cx="2743200" cy="173736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633472"/>
            <a:ext cx="594360" cy="20116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62432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최저가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7B6B"/>
                </a:solidFill>
              </a:rPr>
              <a:t>바닥재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89504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2C2C"/>
                </a:solidFill>
              </a:rPr>
              <a:t>장판 (쿠션)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21868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7B6B"/>
                </a:solidFill>
              </a:rPr>
              <a:t>LG하우시스 Z:IN  |  폭 182cm × 두께 2.5T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47472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7E"/>
                </a:solidFill>
              </a:rPr>
              <a:t>㎡당 8,000~12,000원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7B6B"/>
                </a:solidFill>
              </a:rPr>
              <a:t>완충재 내장, 발 소음 우수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8229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822960"/>
            <a:ext cx="2743200" cy="173736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2112" y="2633472"/>
            <a:ext cx="594360" cy="20116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82112" y="262432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최저가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2" y="263347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7B6B"/>
                </a:solidFill>
              </a:rPr>
              <a:t>침대 프레임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2112" y="2889504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2C2C"/>
                </a:solidFill>
              </a:rPr>
              <a:t>MDF 퀸 침대 프레임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321868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7B6B"/>
                </a:solidFill>
              </a:rPr>
              <a:t>이케아 MALM / 국산  |  W1,680 × D2,120 × H900mm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347472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7E"/>
                </a:solidFill>
              </a:rPr>
              <a:t>15~40만원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373075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7B6B"/>
                </a:solidFill>
              </a:rPr>
              <a:t>슬레이트 포함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16752" y="8229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16752" y="822960"/>
            <a:ext cx="2743200" cy="1737360"/>
          </a:xfrm>
          <a:prstGeom prst="rect">
            <a:avLst/>
          </a:prstGeom>
          <a:solidFill>
            <a:srgbClr val="E8E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9904" y="2633472"/>
            <a:ext cx="594360" cy="201168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9904" y="262432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</a:rPr>
              <a:t>최저가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263347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7B6B"/>
                </a:solidFill>
              </a:rPr>
              <a:t>매트리스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9904" y="2889504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2C2C"/>
                </a:solidFill>
              </a:rPr>
              <a:t>본넬 스프링 매트리스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9904" y="3218688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C7B6B"/>
                </a:solidFill>
              </a:rPr>
              <a:t>에이스 / 시몬스 보급형  |  W1,500 × D2,000 × H230mm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9904" y="347472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7E"/>
                </a:solidFill>
              </a:rPr>
              <a:t>20~60만원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3730752"/>
            <a:ext cx="2596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C7B6B"/>
                </a:solidFill>
              </a:rPr>
              <a:t>내구성 5~7년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